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309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Supply &amp; Demand by Neighbourhood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</a:rPr>
              <a:t>Toronto Short-Term Rental Market  ·  Page 1 of 2</a:t>
            </a:r>
            <a:endParaRPr lang="en-US" sz="1000" dirty="0"/>
          </a:p>
        </p:txBody>
      </p:sp>
      <p:pic>
        <p:nvPicPr>
          <p:cNvPr id="5" name="Image 0" descr="/mnt/user-data/uploads/178390552093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1440180"/>
            <a:ext cx="594360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097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1444752"/>
            <a:ext cx="548640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444752"/>
            <a:ext cx="45720" cy="74980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38544" y="149961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4A"/>
                </a:solidFill>
              </a:rPr>
              <a:t>Demand is heavily concentrated in central Toronto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38544" y="1709928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The top 10 neighbourhoods account for 49.5% of all booking activity despite there being 140 neighbourhoods across the city.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92240" y="2267712"/>
            <a:ext cx="548640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2267712"/>
            <a:ext cx="45720" cy="749808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38544" y="232257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96A6"/>
                </a:solidFill>
              </a:rPr>
              <a:t>Waterfront Communities dominates supply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38544" y="2532888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Holds 2,653 listings — nearly 4× the next largest neighbourhood (Niagara at 583) — representing ~17% of all citywide listings alone.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92240" y="3090672"/>
            <a:ext cx="548640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3090672"/>
            <a:ext cx="4572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38544" y="314553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High-demand, low-supply pockets identified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638544" y="3355848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Kingsview Village, Regent Park, Wychwood, Playter Estates-Danforth and Blake-Jones show 2.1–2.2 avg reviews/month with very few listings.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92240" y="3913632"/>
            <a:ext cx="548640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3913632"/>
            <a:ext cx="457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38544" y="396849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</a:rPr>
              <a:t>Entire home/apt is the dominant product type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638544" y="4178808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67.1% of all listings are entire home/apartment — the highest-value room type and the right product for a property management operator.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92240" y="4736592"/>
            <a:ext cx="5486400" cy="749808"/>
          </a:xfrm>
          <a:prstGeom prst="rect">
            <a:avLst/>
          </a:prstGeom>
          <a:solidFill>
            <a:srgbClr val="FFF8E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0256" y="4791456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Recommendation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620256" y="5001768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Prioritise high-demand, low-supply neighbourhoods in the top-left quadrant of the bubble chart — best return on new inventory with the least competition.</a:t>
            </a:r>
            <a:endParaRPr lang="en-US" sz="85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745C508-3CEF-6201-570F-ED50CB612B7F}"/>
              </a:ext>
            </a:extLst>
          </p:cNvPr>
          <p:cNvSpPr/>
          <p:nvPr/>
        </p:nvSpPr>
        <p:spPr>
          <a:xfrm>
            <a:off x="6400800" y="1097280"/>
            <a:ext cx="18288" cy="4572000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Competition &amp; Compliance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4"/>
                </a:solidFill>
              </a:rPr>
              <a:t>Toronto Short-Term Rental Market  ·  Page 2 of 2</a:t>
            </a:r>
            <a:endParaRPr lang="en-US" sz="1000" dirty="0"/>
          </a:p>
        </p:txBody>
      </p:sp>
      <p:pic>
        <p:nvPicPr>
          <p:cNvPr id="5" name="Image 0" descr="/mnt/user-data/uploads/178390554362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687469"/>
            <a:ext cx="5943600" cy="34240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097280"/>
            <a:ext cx="18288" cy="4572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4"/>
          <p:cNvSpPr/>
          <p:nvPr/>
        </p:nvSpPr>
        <p:spPr>
          <a:xfrm>
            <a:off x="6492240" y="1097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1444752"/>
            <a:ext cx="548640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444752"/>
            <a:ext cx="45720" cy="749808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38544" y="149961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96A6"/>
                </a:solidFill>
              </a:rPr>
              <a:t>Market is dominated by casual individual hosts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38544" y="1709928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80% of all 10,398 hosts hold just one listing — most of the market is individual casual hosts, not organised professional operators.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92240" y="2267712"/>
            <a:ext cx="548640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2267712"/>
            <a:ext cx="4572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38544" y="232257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Professional operators are few but control significant supply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38544" y="2532888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Only 222 hosts (2.1%) run 6+ listings, yet collectively control ~16% of total supply. Low barrier to becoming a top-tier operator.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92240" y="3090672"/>
            <a:ext cx="548640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3090672"/>
            <a:ext cx="45720" cy="74980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38544" y="314553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4A"/>
                </a:solidFill>
              </a:rPr>
              <a:t>43.4% of all listings operate without a valid license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638544" y="3355848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Non-compliance grows with portfolio size — casual hosts show 69% compliance while the largest operators (21+ listings) show only 13.5%.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92240" y="3913632"/>
            <a:ext cx="5486400" cy="7498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3913632"/>
            <a:ext cx="457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38544" y="3968496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</a:rPr>
              <a:t>Compliance is highest in outer Toronto neighbourhoods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638544" y="4178808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Humber Summit (83%), Beechborough-Greenbrook (81%) and Thistletown-Beaumond Heights (81%) lead. Downtown core carries the highest non-compliance risk.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92240" y="4736592"/>
            <a:ext cx="5486400" cy="749808"/>
          </a:xfrm>
          <a:prstGeom prst="rect">
            <a:avLst/>
          </a:prstGeom>
          <a:solidFill>
            <a:srgbClr val="FFF8E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0256" y="4791456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Recommendation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620256" y="5001768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Enter fully licensed. If Toronto tightens STR enforcement, unlicensed competitors face removal from the platform — a compliant operator captures their demand and gains immediate market share.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345</Words>
  <Application>Microsoft Office PowerPoint</Application>
  <PresentationFormat>Widescreen</PresentationFormat>
  <Paragraphs>28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Pawan deep</cp:lastModifiedBy>
  <cp:revision>2</cp:revision>
  <dcterms:created xsi:type="dcterms:W3CDTF">2026-07-13T01:27:12Z</dcterms:created>
  <dcterms:modified xsi:type="dcterms:W3CDTF">2026-07-13T02:51:52Z</dcterms:modified>
</cp:coreProperties>
</file>